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VG Group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Rectangle 1"/>
          <p:cNvSpPr/>
          <p:nvPr/>
        </p:nvSpPr>
        <p:spPr>
          <a:xfrm>
            <a:off x="914400" y="914400"/>
            <a:ext cx="9144000" cy="51435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3" name="Rectangle 2"/>
          <p:cNvSpPr/>
          <p:nvPr/>
        </p:nvSpPr>
        <p:spPr>
          <a:xfrm>
            <a:off x="914400" y="914400"/>
            <a:ext cx="9144000" cy="5143500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4" name="Rectangle 3"/>
          <p:cNvSpPr/>
          <p:nvPr/>
        </p:nvSpPr>
        <p:spPr>
          <a:xfrm>
            <a:off x="914400" y="914400"/>
            <a:ext cx="57150" cy="514350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5" name="Rectangle 4"/>
          <p:cNvSpPr/>
          <p:nvPr/>
        </p:nvSpPr>
        <p:spPr>
          <a:xfrm>
            <a:off x="971550" y="5829300"/>
            <a:ext cx="9086850" cy="22860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6" name="Text 5"/>
          <p:cNvSpPr txBox="1"/>
          <p:nvPr/>
        </p:nvSpPr>
        <p:spPr>
          <a:xfrm>
            <a:off x="5486400" y="5972175"/>
            <a:ext cx="6086475" cy="10287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200">
                <a:solidFill>
                  <a:srgbClr val="0D1B2A"/>
                </a:solidFill>
              </a:rPr>
              <a:t>"From a ₹3,100 prototype to a production-grade marine safety platform."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1071563" y="1143000"/>
            <a:ext cx="85725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F4A261"/>
                </a:solidFill>
              </a:rPr>
              <a:t>FUTURE SCOPE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1071563" y="1328738"/>
            <a:ext cx="4457700" cy="22288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2600">
                <a:solidFill>
                  <a:srgbClr val="FFFFFF"/>
                </a:solidFill>
              </a:rPr>
              <a:t>Roadmap: What Comes Next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071563" y="1471613"/>
            <a:ext cx="7800975" cy="10287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200">
                <a:solidFill>
                  <a:srgbClr val="7CA3C8"/>
                </a:solidFill>
              </a:rPr>
              <a:t>Planned enhancements to evolve the prototype into a production-grade marine safety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71563" y="1585913"/>
            <a:ext cx="2114550" cy="842963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11" name="Rectangle 10"/>
          <p:cNvSpPr/>
          <p:nvPr/>
        </p:nvSpPr>
        <p:spPr>
          <a:xfrm>
            <a:off x="1071563" y="1585913"/>
            <a:ext cx="2114550" cy="28575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2" name="Text 11"/>
          <p:cNvSpPr txBox="1"/>
          <p:nvPr/>
        </p:nvSpPr>
        <p:spPr>
          <a:xfrm>
            <a:off x="1164431" y="1728788"/>
            <a:ext cx="450056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F4A261"/>
                </a:solidFill>
              </a:rPr>
              <a:t>PHASE 1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1164431" y="1857375"/>
            <a:ext cx="1950244" cy="111443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300">
                <a:solidFill>
                  <a:srgbClr val="FFFFFF"/>
                </a:solidFill>
              </a:rPr>
              <a:t>IoT Cloud Integration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1164431" y="1985963"/>
            <a:ext cx="2357438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Sensor data streamed to AWS IoT /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1164431" y="2085975"/>
            <a:ext cx="2643188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ThingSpeak — port authorities monitor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1164431" y="2185988"/>
            <a:ext cx="257175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entire fleet live from one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7550" y="1585913"/>
            <a:ext cx="2114550" cy="842963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18" name="Rectangle 17"/>
          <p:cNvSpPr/>
          <p:nvPr/>
        </p:nvSpPr>
        <p:spPr>
          <a:xfrm>
            <a:off x="3257550" y="1585913"/>
            <a:ext cx="2114550" cy="28575"/>
          </a:xfrm>
          <a:prstGeom prst="rect">
            <a:avLst/>
          </a:prstGeom>
          <a:solidFill>
            <a:srgbClr val="378ADD"/>
          </a:solidFill>
        </p:spPr>
      </p:sp>
      <p:sp>
        <p:nvSpPr>
          <p:cNvPr id="19" name="Text 18"/>
          <p:cNvSpPr txBox="1"/>
          <p:nvPr/>
        </p:nvSpPr>
        <p:spPr>
          <a:xfrm>
            <a:off x="3350419" y="1728788"/>
            <a:ext cx="450056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378ADD"/>
                </a:solidFill>
              </a:rPr>
              <a:t>PHASE 2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3350419" y="1857375"/>
            <a:ext cx="1671638" cy="111443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300">
                <a:solidFill>
                  <a:srgbClr val="FFFFFF"/>
                </a:solidFill>
              </a:rPr>
              <a:t>Mobile Application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3350419" y="1985963"/>
            <a:ext cx="2357438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Dedicated app for boat owners and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3350419" y="2085975"/>
            <a:ext cx="2643188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coast guard — live GPS, alert history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3350419" y="2185988"/>
            <a:ext cx="2143125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and sensor status in real 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3538" y="1585913"/>
            <a:ext cx="2114550" cy="842963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25" name="Rectangle 24"/>
          <p:cNvSpPr/>
          <p:nvPr/>
        </p:nvSpPr>
        <p:spPr>
          <a:xfrm>
            <a:off x="5443538" y="1585913"/>
            <a:ext cx="2114550" cy="28575"/>
          </a:xfrm>
          <a:prstGeom prst="rect">
            <a:avLst/>
          </a:prstGeom>
          <a:solidFill>
            <a:srgbClr val="6FCF97"/>
          </a:solidFill>
        </p:spPr>
      </p:sp>
      <p:sp>
        <p:nvSpPr>
          <p:cNvPr id="26" name="Text 25"/>
          <p:cNvSpPr txBox="1"/>
          <p:nvPr/>
        </p:nvSpPr>
        <p:spPr>
          <a:xfrm>
            <a:off x="5536406" y="1728788"/>
            <a:ext cx="450056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6FCF97"/>
                </a:solidFill>
              </a:rPr>
              <a:t>PHASE 3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5536406" y="1857375"/>
            <a:ext cx="2043113" cy="111443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300">
                <a:solidFill>
                  <a:srgbClr val="FFFFFF"/>
                </a:solidFill>
              </a:rPr>
              <a:t>AI Accident Prediction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5536406" y="1985963"/>
            <a:ext cx="285750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Time-series ML model detects progressive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5536406" y="2085975"/>
            <a:ext cx="257175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overloading or deteriorating weather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5536406" y="2185988"/>
            <a:ext cx="2357438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before critical thresholds breach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9525" y="1585913"/>
            <a:ext cx="2300288" cy="842963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32" name="Rectangle 31"/>
          <p:cNvSpPr/>
          <p:nvPr/>
        </p:nvSpPr>
        <p:spPr>
          <a:xfrm>
            <a:off x="7629525" y="1585913"/>
            <a:ext cx="2300288" cy="28575"/>
          </a:xfrm>
          <a:prstGeom prst="rect">
            <a:avLst/>
          </a:prstGeom>
          <a:solidFill>
            <a:srgbClr val="7F77DD"/>
          </a:solidFill>
        </p:spPr>
      </p:sp>
      <p:sp>
        <p:nvSpPr>
          <p:cNvPr id="33" name="Text 32"/>
          <p:cNvSpPr txBox="1"/>
          <p:nvPr/>
        </p:nvSpPr>
        <p:spPr>
          <a:xfrm>
            <a:off x="7722394" y="1728788"/>
            <a:ext cx="450056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7F77DD"/>
                </a:solidFill>
              </a:rPr>
              <a:t>PHASE 4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7722394" y="1857375"/>
            <a:ext cx="1764506" cy="111443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300">
                <a:solidFill>
                  <a:srgbClr val="FFFFFF"/>
                </a:solidFill>
              </a:rPr>
              <a:t>LoRa / NB-IoT Comms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7722394" y="1985963"/>
            <a:ext cx="2500313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Replace GSM for deep-sea coverage —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7722394" y="2085975"/>
            <a:ext cx="257175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range extended to 10–15 km with zero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7722394" y="2185988"/>
            <a:ext cx="1357313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SIM card dependency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71563" y="2514600"/>
            <a:ext cx="2114550" cy="842963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39" name="Rectangle 38"/>
          <p:cNvSpPr/>
          <p:nvPr/>
        </p:nvSpPr>
        <p:spPr>
          <a:xfrm>
            <a:off x="1071563" y="2514600"/>
            <a:ext cx="2114550" cy="28575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40" name="Text 39"/>
          <p:cNvSpPr txBox="1"/>
          <p:nvPr/>
        </p:nvSpPr>
        <p:spPr>
          <a:xfrm>
            <a:off x="1164431" y="2657475"/>
            <a:ext cx="450056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F4A261"/>
                </a:solidFill>
              </a:rPr>
              <a:t>PHASE 5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1164431" y="2786063"/>
            <a:ext cx="2135981" cy="111443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300">
                <a:solidFill>
                  <a:srgbClr val="FFFFFF"/>
                </a:solidFill>
              </a:rPr>
              <a:t>Solar Power Integration</a:t>
            </a:r>
          </a:p>
        </p:txBody>
      </p:sp>
      <p:sp>
        <p:nvSpPr>
          <p:cNvPr id="42" name="Text 41"/>
          <p:cNvSpPr txBox="1"/>
          <p:nvPr/>
        </p:nvSpPr>
        <p:spPr>
          <a:xfrm>
            <a:off x="1164431" y="2914650"/>
            <a:ext cx="2500313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10W panel + Li-ion buffer battery —</a:t>
            </a:r>
          </a:p>
        </p:txBody>
      </p:sp>
      <p:sp>
        <p:nvSpPr>
          <p:cNvPr id="43" name="Text 42"/>
          <p:cNvSpPr txBox="1"/>
          <p:nvPr/>
        </p:nvSpPr>
        <p:spPr>
          <a:xfrm>
            <a:off x="1164431" y="3014663"/>
            <a:ext cx="2500313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continuous off-grid operation, zero</a:t>
            </a:r>
          </a:p>
        </p:txBody>
      </p:sp>
      <p:sp>
        <p:nvSpPr>
          <p:cNvPr id="44" name="Text 43"/>
          <p:cNvSpPr txBox="1"/>
          <p:nvPr/>
        </p:nvSpPr>
        <p:spPr>
          <a:xfrm>
            <a:off x="1164431" y="3114675"/>
            <a:ext cx="1571625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shore power dependency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57550" y="2514600"/>
            <a:ext cx="2114550" cy="842963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46" name="Rectangle 45"/>
          <p:cNvSpPr/>
          <p:nvPr/>
        </p:nvSpPr>
        <p:spPr>
          <a:xfrm>
            <a:off x="3257550" y="2514600"/>
            <a:ext cx="2114550" cy="28575"/>
          </a:xfrm>
          <a:prstGeom prst="rect">
            <a:avLst/>
          </a:prstGeom>
          <a:solidFill>
            <a:srgbClr val="378ADD"/>
          </a:solidFill>
        </p:spPr>
      </p:sp>
      <p:sp>
        <p:nvSpPr>
          <p:cNvPr id="47" name="Text 46"/>
          <p:cNvSpPr txBox="1"/>
          <p:nvPr/>
        </p:nvSpPr>
        <p:spPr>
          <a:xfrm>
            <a:off x="3350419" y="2657475"/>
            <a:ext cx="450056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378ADD"/>
                </a:solidFill>
              </a:rPr>
              <a:t>PHASE 6</a:t>
            </a:r>
          </a:p>
        </p:txBody>
      </p:sp>
      <p:sp>
        <p:nvSpPr>
          <p:cNvPr id="48" name="Text 47"/>
          <p:cNvSpPr txBox="1"/>
          <p:nvPr/>
        </p:nvSpPr>
        <p:spPr>
          <a:xfrm>
            <a:off x="3350419" y="2786063"/>
            <a:ext cx="1950244" cy="111443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300">
                <a:solidFill>
                  <a:srgbClr val="FFFFFF"/>
                </a:solidFill>
              </a:rPr>
              <a:t>Expanded Sensor Suite</a:t>
            </a:r>
          </a:p>
        </p:txBody>
      </p:sp>
      <p:sp>
        <p:nvSpPr>
          <p:cNvPr id="49" name="Text 48"/>
          <p:cNvSpPr txBox="1"/>
          <p:nvPr/>
        </p:nvSpPr>
        <p:spPr>
          <a:xfrm>
            <a:off x="3350419" y="2914650"/>
            <a:ext cx="2928938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Fire detection, bilge water level, engine</a:t>
            </a:r>
          </a:p>
        </p:txBody>
      </p:sp>
      <p:sp>
        <p:nvSpPr>
          <p:cNvPr id="50" name="Text 49"/>
          <p:cNvSpPr txBox="1"/>
          <p:nvPr/>
        </p:nvSpPr>
        <p:spPr>
          <a:xfrm>
            <a:off x="3350419" y="3014663"/>
            <a:ext cx="2786063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temperature and gas leak — full onboard</a:t>
            </a:r>
          </a:p>
        </p:txBody>
      </p:sp>
      <p:sp>
        <p:nvSpPr>
          <p:cNvPr id="51" name="Text 50"/>
          <p:cNvSpPr txBox="1"/>
          <p:nvPr/>
        </p:nvSpPr>
        <p:spPr>
          <a:xfrm>
            <a:off x="3350419" y="3114675"/>
            <a:ext cx="1500188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situational awareness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43538" y="2514600"/>
            <a:ext cx="2114550" cy="842963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53" name="Rectangle 52"/>
          <p:cNvSpPr/>
          <p:nvPr/>
        </p:nvSpPr>
        <p:spPr>
          <a:xfrm>
            <a:off x="5443538" y="2514600"/>
            <a:ext cx="2114550" cy="28575"/>
          </a:xfrm>
          <a:prstGeom prst="rect">
            <a:avLst/>
          </a:prstGeom>
          <a:solidFill>
            <a:srgbClr val="6FCF97"/>
          </a:solidFill>
        </p:spPr>
      </p:sp>
      <p:sp>
        <p:nvSpPr>
          <p:cNvPr id="54" name="Text 53"/>
          <p:cNvSpPr txBox="1"/>
          <p:nvPr/>
        </p:nvSpPr>
        <p:spPr>
          <a:xfrm>
            <a:off x="5536406" y="2657475"/>
            <a:ext cx="450056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6FCF97"/>
                </a:solidFill>
              </a:rPr>
              <a:t>PHASE 7</a:t>
            </a:r>
          </a:p>
        </p:txBody>
      </p:sp>
      <p:sp>
        <p:nvSpPr>
          <p:cNvPr id="55" name="Text 54"/>
          <p:cNvSpPr txBox="1"/>
          <p:nvPr/>
        </p:nvSpPr>
        <p:spPr>
          <a:xfrm>
            <a:off x="5536406" y="2786063"/>
            <a:ext cx="1857375" cy="111443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300">
                <a:solidFill>
                  <a:srgbClr val="FFFFFF"/>
                </a:solidFill>
              </a:rPr>
              <a:t>Coast Guard API Link</a:t>
            </a:r>
          </a:p>
        </p:txBody>
      </p:sp>
      <p:sp>
        <p:nvSpPr>
          <p:cNvPr id="56" name="Text 55"/>
          <p:cNvSpPr txBox="1"/>
          <p:nvPr/>
        </p:nvSpPr>
        <p:spPr>
          <a:xfrm>
            <a:off x="5536406" y="2914650"/>
            <a:ext cx="3000375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Direct pipeline to marine rescue centers —</a:t>
            </a:r>
          </a:p>
        </p:txBody>
      </p:sp>
      <p:sp>
        <p:nvSpPr>
          <p:cNvPr id="57" name="Text 56"/>
          <p:cNvSpPr txBox="1"/>
          <p:nvPr/>
        </p:nvSpPr>
        <p:spPr>
          <a:xfrm>
            <a:off x="5536406" y="3014663"/>
            <a:ext cx="2714625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automatic incident ticket generated on</a:t>
            </a:r>
          </a:p>
        </p:txBody>
      </p:sp>
      <p:sp>
        <p:nvSpPr>
          <p:cNvPr id="58" name="Text 57"/>
          <p:cNvSpPr txBox="1"/>
          <p:nvPr/>
        </p:nvSpPr>
        <p:spPr>
          <a:xfrm>
            <a:off x="5536406" y="3114675"/>
            <a:ext cx="1357313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8FACC7"/>
                </a:solidFill>
              </a:rPr>
              <a:t>every alert trigger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29525" y="2514600"/>
            <a:ext cx="2300288" cy="842963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60" name="Text 59"/>
          <p:cNvSpPr txBox="1"/>
          <p:nvPr/>
        </p:nvSpPr>
        <p:spPr>
          <a:xfrm>
            <a:off x="7722394" y="2686050"/>
            <a:ext cx="1178719" cy="94298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100">
                <a:solidFill>
                  <a:srgbClr val="F4A261"/>
                </a:solidFill>
              </a:rPr>
              <a:t>Target Timeline</a:t>
            </a:r>
          </a:p>
        </p:txBody>
      </p:sp>
      <p:sp>
        <p:nvSpPr>
          <p:cNvPr id="61" name="Text 60"/>
          <p:cNvSpPr txBox="1"/>
          <p:nvPr/>
        </p:nvSpPr>
        <p:spPr>
          <a:xfrm>
            <a:off x="7722394" y="2821781"/>
            <a:ext cx="1021556" cy="111443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300">
                <a:solidFill>
                  <a:srgbClr val="FFFFFF"/>
                </a:solidFill>
              </a:rPr>
              <a:t>2025 → 2027</a:t>
            </a:r>
          </a:p>
        </p:txBody>
      </p:sp>
      <p:cxnSp>
        <p:nvCxnSpPr>
          <p:cNvPr id="62" name="Line 61"/>
          <p:cNvCxnSpPr/>
          <p:nvPr/>
        </p:nvCxnSpPr>
        <p:spPr>
          <a:xfrm>
            <a:off x="7722394" y="2900363"/>
            <a:ext cx="2107406" cy="914400"/>
          </a:xfrm>
          <a:prstGeom prst="line">
            <a:avLst/>
          </a:prstGeom>
          <a:ln w="25400">
            <a:solidFill>
              <a:srgbClr val="000000"/>
            </a:solidFill>
          </a:ln>
        </p:spPr>
      </p:cxnSp>
      <p:sp>
        <p:nvSpPr>
          <p:cNvPr id="63" name="Text 62"/>
          <p:cNvSpPr txBox="1"/>
          <p:nvPr/>
        </p:nvSpPr>
        <p:spPr>
          <a:xfrm>
            <a:off x="7722394" y="3028950"/>
            <a:ext cx="85725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D0D8E4"/>
                </a:solidFill>
              </a:rPr>
              <a:t>Cloud → AI →</a:t>
            </a:r>
          </a:p>
        </p:txBody>
      </p:sp>
      <p:sp>
        <p:nvSpPr>
          <p:cNvPr id="64" name="Text 63"/>
          <p:cNvSpPr txBox="1"/>
          <p:nvPr/>
        </p:nvSpPr>
        <p:spPr>
          <a:xfrm>
            <a:off x="7722394" y="3143250"/>
            <a:ext cx="1643063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D0D8E4"/>
                </a:solidFill>
              </a:rPr>
              <a:t>Long-Range → Commercial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71563" y="3443288"/>
            <a:ext cx="8858250" cy="514350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66" name="Text 65"/>
          <p:cNvSpPr txBox="1"/>
          <p:nvPr/>
        </p:nvSpPr>
        <p:spPr>
          <a:xfrm>
            <a:off x="1171575" y="3736181"/>
            <a:ext cx="1028700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F4A261"/>
                </a:solidFill>
              </a:rPr>
              <a:t>EVOLUTION PATH →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021681" y="3500438"/>
            <a:ext cx="1228725" cy="400050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68" name="Text 67"/>
          <p:cNvSpPr txBox="1"/>
          <p:nvPr/>
        </p:nvSpPr>
        <p:spPr>
          <a:xfrm>
            <a:off x="2636044" y="3643313"/>
            <a:ext cx="500063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F4A261"/>
                </a:solidFill>
              </a:rPr>
              <a:t>Current</a:t>
            </a:r>
          </a:p>
        </p:txBody>
      </p:sp>
      <p:sp>
        <p:nvSpPr>
          <p:cNvPr id="69" name="Text 68"/>
          <p:cNvSpPr txBox="1"/>
          <p:nvPr/>
        </p:nvSpPr>
        <p:spPr>
          <a:xfrm>
            <a:off x="2636044" y="3750469"/>
            <a:ext cx="1028700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8FACC7"/>
                </a:solidFill>
              </a:rPr>
              <a:t>₹3,100 prototype</a:t>
            </a:r>
          </a:p>
        </p:txBody>
      </p:sp>
      <p:sp>
        <p:nvSpPr>
          <p:cNvPr id="70" name="Text 69"/>
          <p:cNvSpPr txBox="1"/>
          <p:nvPr/>
        </p:nvSpPr>
        <p:spPr>
          <a:xfrm>
            <a:off x="2636044" y="3843338"/>
            <a:ext cx="1350169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8FACC7"/>
                </a:solidFill>
              </a:rPr>
              <a:t>GSM + GPS + 5 sensors</a:t>
            </a:r>
          </a:p>
        </p:txBody>
      </p:sp>
      <p:sp>
        <p:nvSpPr>
          <p:cNvPr id="71" name="Text 70"/>
          <p:cNvSpPr txBox="1"/>
          <p:nvPr/>
        </p:nvSpPr>
        <p:spPr>
          <a:xfrm>
            <a:off x="3321844" y="3750469"/>
            <a:ext cx="114300" cy="13716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60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450431" y="3500438"/>
            <a:ext cx="1228725" cy="400050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73" name="Text 72"/>
          <p:cNvSpPr txBox="1"/>
          <p:nvPr/>
        </p:nvSpPr>
        <p:spPr>
          <a:xfrm>
            <a:off x="4064794" y="3643313"/>
            <a:ext cx="28575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378ADD"/>
                </a:solidFill>
              </a:rPr>
              <a:t>v2.0</a:t>
            </a:r>
          </a:p>
        </p:txBody>
      </p:sp>
      <p:sp>
        <p:nvSpPr>
          <p:cNvPr id="74" name="Text 73"/>
          <p:cNvSpPr txBox="1"/>
          <p:nvPr/>
        </p:nvSpPr>
        <p:spPr>
          <a:xfrm>
            <a:off x="4064794" y="3750469"/>
            <a:ext cx="707231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8FACC7"/>
                </a:solidFill>
              </a:rPr>
              <a:t>Cloud + App</a:t>
            </a:r>
          </a:p>
        </p:txBody>
      </p:sp>
      <p:sp>
        <p:nvSpPr>
          <p:cNvPr id="75" name="Text 74"/>
          <p:cNvSpPr txBox="1"/>
          <p:nvPr/>
        </p:nvSpPr>
        <p:spPr>
          <a:xfrm>
            <a:off x="4064794" y="3843338"/>
            <a:ext cx="835819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8FACC7"/>
                </a:solidFill>
              </a:rPr>
              <a:t>IoT dashboard</a:t>
            </a:r>
          </a:p>
        </p:txBody>
      </p:sp>
      <p:sp>
        <p:nvSpPr>
          <p:cNvPr id="76" name="Text 75"/>
          <p:cNvSpPr txBox="1"/>
          <p:nvPr/>
        </p:nvSpPr>
        <p:spPr>
          <a:xfrm>
            <a:off x="4750594" y="3750469"/>
            <a:ext cx="114300" cy="13716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60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79181" y="3500438"/>
            <a:ext cx="1228725" cy="400050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78" name="Text 77"/>
          <p:cNvSpPr txBox="1"/>
          <p:nvPr/>
        </p:nvSpPr>
        <p:spPr>
          <a:xfrm>
            <a:off x="5493544" y="3643313"/>
            <a:ext cx="28575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6FCF97"/>
                </a:solidFill>
              </a:rPr>
              <a:t>v3.0</a:t>
            </a:r>
          </a:p>
        </p:txBody>
      </p:sp>
      <p:sp>
        <p:nvSpPr>
          <p:cNvPr id="79" name="Text 78"/>
          <p:cNvSpPr txBox="1"/>
          <p:nvPr/>
        </p:nvSpPr>
        <p:spPr>
          <a:xfrm>
            <a:off x="5493544" y="3750469"/>
            <a:ext cx="835819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8FACC7"/>
                </a:solidFill>
              </a:rPr>
              <a:t>AI prediction</a:t>
            </a:r>
          </a:p>
        </p:txBody>
      </p:sp>
      <p:sp>
        <p:nvSpPr>
          <p:cNvPr id="80" name="Text 79"/>
          <p:cNvSpPr txBox="1"/>
          <p:nvPr/>
        </p:nvSpPr>
        <p:spPr>
          <a:xfrm>
            <a:off x="5493544" y="3843338"/>
            <a:ext cx="642938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8FACC7"/>
                </a:solidFill>
              </a:rPr>
              <a:t>LoRa comms</a:t>
            </a:r>
          </a:p>
        </p:txBody>
      </p:sp>
      <p:sp>
        <p:nvSpPr>
          <p:cNvPr id="81" name="Text 80"/>
          <p:cNvSpPr txBox="1"/>
          <p:nvPr/>
        </p:nvSpPr>
        <p:spPr>
          <a:xfrm>
            <a:off x="6179344" y="3750469"/>
            <a:ext cx="114300" cy="13716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60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7931" y="3500438"/>
            <a:ext cx="1228725" cy="400050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83" name="Text 82"/>
          <p:cNvSpPr txBox="1"/>
          <p:nvPr/>
        </p:nvSpPr>
        <p:spPr>
          <a:xfrm>
            <a:off x="6922294" y="3643313"/>
            <a:ext cx="28575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7F77DD"/>
                </a:solidFill>
              </a:rPr>
              <a:t>v4.0</a:t>
            </a:r>
          </a:p>
        </p:txBody>
      </p:sp>
      <p:sp>
        <p:nvSpPr>
          <p:cNvPr id="84" name="Text 83"/>
          <p:cNvSpPr txBox="1"/>
          <p:nvPr/>
        </p:nvSpPr>
        <p:spPr>
          <a:xfrm>
            <a:off x="6922294" y="3750469"/>
            <a:ext cx="1028700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8FACC7"/>
                </a:solidFill>
              </a:rPr>
              <a:t>Solar + expanded</a:t>
            </a:r>
          </a:p>
        </p:txBody>
      </p:sp>
      <p:sp>
        <p:nvSpPr>
          <p:cNvPr id="85" name="Text 84"/>
          <p:cNvSpPr txBox="1"/>
          <p:nvPr/>
        </p:nvSpPr>
        <p:spPr>
          <a:xfrm>
            <a:off x="6922294" y="3843338"/>
            <a:ext cx="450056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8FACC7"/>
                </a:solidFill>
              </a:rPr>
              <a:t>sensors</a:t>
            </a:r>
          </a:p>
        </p:txBody>
      </p:sp>
      <p:sp>
        <p:nvSpPr>
          <p:cNvPr id="86" name="Text 85"/>
          <p:cNvSpPr txBox="1"/>
          <p:nvPr/>
        </p:nvSpPr>
        <p:spPr>
          <a:xfrm>
            <a:off x="7608094" y="3750469"/>
            <a:ext cx="114300" cy="13716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60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36681" y="3500438"/>
            <a:ext cx="2000250" cy="400050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88" name="Text 87"/>
          <p:cNvSpPr txBox="1"/>
          <p:nvPr/>
        </p:nvSpPr>
        <p:spPr>
          <a:xfrm>
            <a:off x="8736806" y="3643313"/>
            <a:ext cx="714375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0D1B2A"/>
                </a:solidFill>
              </a:rPr>
              <a:t>Commercial</a:t>
            </a:r>
          </a:p>
        </p:txBody>
      </p:sp>
      <p:sp>
        <p:nvSpPr>
          <p:cNvPr id="89" name="Text 88"/>
          <p:cNvSpPr txBox="1"/>
          <p:nvPr/>
        </p:nvSpPr>
        <p:spPr>
          <a:xfrm>
            <a:off x="8736806" y="3750469"/>
            <a:ext cx="1735931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0D1B2A"/>
                </a:solidFill>
              </a:rPr>
              <a:t>Coast guard API integration</a:t>
            </a:r>
          </a:p>
        </p:txBody>
      </p:sp>
      <p:sp>
        <p:nvSpPr>
          <p:cNvPr id="90" name="Text 89"/>
          <p:cNvSpPr txBox="1"/>
          <p:nvPr/>
        </p:nvSpPr>
        <p:spPr>
          <a:xfrm>
            <a:off x="8736806" y="3843338"/>
            <a:ext cx="1671638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0D1B2A"/>
                </a:solidFill>
              </a:rPr>
              <a:t>Full production deployment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71563" y="4043363"/>
            <a:ext cx="2085975" cy="414338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92" name="Rectangle 91"/>
          <p:cNvSpPr/>
          <p:nvPr/>
        </p:nvSpPr>
        <p:spPr>
          <a:xfrm>
            <a:off x="1071563" y="4043363"/>
            <a:ext cx="28575" cy="414338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93" name="Text 92"/>
          <p:cNvSpPr txBox="1"/>
          <p:nvPr/>
        </p:nvSpPr>
        <p:spPr>
          <a:xfrm>
            <a:off x="2128838" y="4236244"/>
            <a:ext cx="1028700" cy="15430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800">
                <a:solidFill>
                  <a:srgbClr val="F4A261"/>
                </a:solidFill>
              </a:rPr>
              <a:t>7 Phases</a:t>
            </a:r>
          </a:p>
        </p:txBody>
      </p:sp>
      <p:sp>
        <p:nvSpPr>
          <p:cNvPr id="94" name="Text 93"/>
          <p:cNvSpPr txBox="1"/>
          <p:nvPr/>
        </p:nvSpPr>
        <p:spPr>
          <a:xfrm>
            <a:off x="2128838" y="4364831"/>
            <a:ext cx="1928813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7CA3C8"/>
                </a:solidFill>
              </a:rPr>
              <a:t>Structured enhancement roadmap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28975" y="4043363"/>
            <a:ext cx="2085975" cy="414338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96" name="Rectangle 95"/>
          <p:cNvSpPr/>
          <p:nvPr/>
        </p:nvSpPr>
        <p:spPr>
          <a:xfrm>
            <a:off x="3228975" y="4043363"/>
            <a:ext cx="28575" cy="414338"/>
          </a:xfrm>
          <a:prstGeom prst="rect">
            <a:avLst/>
          </a:prstGeom>
          <a:solidFill>
            <a:srgbClr val="378ADD"/>
          </a:solidFill>
        </p:spPr>
      </p:sp>
      <p:sp>
        <p:nvSpPr>
          <p:cNvPr id="97" name="Text 96"/>
          <p:cNvSpPr txBox="1"/>
          <p:nvPr/>
        </p:nvSpPr>
        <p:spPr>
          <a:xfrm>
            <a:off x="4286250" y="4236244"/>
            <a:ext cx="1157288" cy="15430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800">
                <a:solidFill>
                  <a:srgbClr val="378ADD"/>
                </a:solidFill>
              </a:rPr>
              <a:t>2025–2027</a:t>
            </a:r>
          </a:p>
        </p:txBody>
      </p:sp>
      <p:sp>
        <p:nvSpPr>
          <p:cNvPr id="98" name="Text 97"/>
          <p:cNvSpPr txBox="1"/>
          <p:nvPr/>
        </p:nvSpPr>
        <p:spPr>
          <a:xfrm>
            <a:off x="4286250" y="4364831"/>
            <a:ext cx="1671638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7CA3C8"/>
                </a:solidFill>
              </a:rPr>
              <a:t>Target completion timeline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386388" y="4043363"/>
            <a:ext cx="2085975" cy="414338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100" name="Rectangle 99"/>
          <p:cNvSpPr/>
          <p:nvPr/>
        </p:nvSpPr>
        <p:spPr>
          <a:xfrm>
            <a:off x="5386388" y="4043363"/>
            <a:ext cx="28575" cy="414338"/>
          </a:xfrm>
          <a:prstGeom prst="rect">
            <a:avLst/>
          </a:prstGeom>
          <a:solidFill>
            <a:srgbClr val="6FCF97"/>
          </a:solidFill>
        </p:spPr>
      </p:sp>
      <p:sp>
        <p:nvSpPr>
          <p:cNvPr id="101" name="Text 100"/>
          <p:cNvSpPr txBox="1"/>
          <p:nvPr/>
        </p:nvSpPr>
        <p:spPr>
          <a:xfrm>
            <a:off x="6443663" y="4236244"/>
            <a:ext cx="1028700" cy="15430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800">
                <a:solidFill>
                  <a:srgbClr val="6FCF97"/>
                </a:solidFill>
              </a:rPr>
              <a:t>10–15 km</a:t>
            </a:r>
          </a:p>
        </p:txBody>
      </p:sp>
      <p:sp>
        <p:nvSpPr>
          <p:cNvPr id="102" name="Text 101"/>
          <p:cNvSpPr txBox="1"/>
          <p:nvPr/>
        </p:nvSpPr>
        <p:spPr>
          <a:xfrm>
            <a:off x="6443663" y="4364831"/>
            <a:ext cx="1800225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7CA3C8"/>
                </a:solidFill>
              </a:rPr>
              <a:t>LoRa range vs GSM limitation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43800" y="4043363"/>
            <a:ext cx="2386013" cy="414338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104" name="Rectangle 103"/>
          <p:cNvSpPr/>
          <p:nvPr/>
        </p:nvSpPr>
        <p:spPr>
          <a:xfrm>
            <a:off x="7543800" y="4043363"/>
            <a:ext cx="28575" cy="414338"/>
          </a:xfrm>
          <a:prstGeom prst="rect">
            <a:avLst/>
          </a:prstGeom>
          <a:solidFill>
            <a:srgbClr val="7F77DD"/>
          </a:solidFill>
        </p:spPr>
      </p:sp>
      <p:sp>
        <p:nvSpPr>
          <p:cNvPr id="105" name="Text 104"/>
          <p:cNvSpPr txBox="1"/>
          <p:nvPr/>
        </p:nvSpPr>
        <p:spPr>
          <a:xfrm>
            <a:off x="8736806" y="4236244"/>
            <a:ext cx="1543050" cy="15430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800">
                <a:solidFill>
                  <a:srgbClr val="7F77DD"/>
                </a:solidFill>
              </a:rPr>
              <a:t>₹0 Recurring</a:t>
            </a:r>
          </a:p>
        </p:txBody>
      </p:sp>
      <p:sp>
        <p:nvSpPr>
          <p:cNvPr id="106" name="Text 105"/>
          <p:cNvSpPr txBox="1"/>
          <p:nvPr/>
        </p:nvSpPr>
        <p:spPr>
          <a:xfrm>
            <a:off x="8736806" y="4364831"/>
            <a:ext cx="2314575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7CA3C8"/>
                </a:solidFill>
              </a:rPr>
              <a:t>No subscription or license fees ever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71563" y="4543425"/>
            <a:ext cx="8858250" cy="1214438"/>
          </a:xfrm>
          <a:prstGeom prst="rect">
            <a:avLst/>
          </a:prstGeom>
          <a:solidFill>
            <a:srgbClr val="0A1520"/>
          </a:solidFill>
        </p:spPr>
      </p:sp>
      <p:sp>
        <p:nvSpPr>
          <p:cNvPr id="108" name="Text 107"/>
          <p:cNvSpPr txBox="1"/>
          <p:nvPr/>
        </p:nvSpPr>
        <p:spPr>
          <a:xfrm>
            <a:off x="1171575" y="4686300"/>
            <a:ext cx="1543050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F4A261"/>
                </a:solidFill>
              </a:rPr>
              <a:t>SYSTEM EVOLUTION DIAGRAM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71575" y="4743450"/>
            <a:ext cx="714375" cy="257175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110" name="Text 109"/>
          <p:cNvSpPr txBox="1"/>
          <p:nvPr/>
        </p:nvSpPr>
        <p:spPr>
          <a:xfrm>
            <a:off x="1528763" y="4850606"/>
            <a:ext cx="450056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F4A261"/>
                </a:solidFill>
              </a:rPr>
              <a:t>Arduino</a:t>
            </a:r>
          </a:p>
        </p:txBody>
      </p:sp>
      <p:sp>
        <p:nvSpPr>
          <p:cNvPr id="111" name="Text 110"/>
          <p:cNvSpPr txBox="1"/>
          <p:nvPr/>
        </p:nvSpPr>
        <p:spPr>
          <a:xfrm>
            <a:off x="1528763" y="4943475"/>
            <a:ext cx="400050" cy="6858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800">
                <a:solidFill>
                  <a:srgbClr val="8FACC7"/>
                </a:solidFill>
              </a:rPr>
              <a:t>/ ESP32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71575" y="5072063"/>
            <a:ext cx="714375" cy="214313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113" name="Text 112"/>
          <p:cNvSpPr txBox="1"/>
          <p:nvPr/>
        </p:nvSpPr>
        <p:spPr>
          <a:xfrm>
            <a:off x="1528763" y="5207794"/>
            <a:ext cx="578644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D0D8E4"/>
                </a:solidFill>
              </a:rPr>
              <a:t>GSM + GPS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71575" y="5357813"/>
            <a:ext cx="714375" cy="214313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115" name="Text 114"/>
          <p:cNvSpPr txBox="1"/>
          <p:nvPr/>
        </p:nvSpPr>
        <p:spPr>
          <a:xfrm>
            <a:off x="1528763" y="5493544"/>
            <a:ext cx="578644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D0D8E4"/>
                </a:solidFill>
              </a:rPr>
              <a:t>5 Sensors</a:t>
            </a:r>
          </a:p>
        </p:txBody>
      </p:sp>
      <p:sp>
        <p:nvSpPr>
          <p:cNvPr id="116" name="Text 115"/>
          <p:cNvSpPr txBox="1"/>
          <p:nvPr/>
        </p:nvSpPr>
        <p:spPr>
          <a:xfrm>
            <a:off x="1964531" y="5200650"/>
            <a:ext cx="128588" cy="15430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80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14550" y="4743450"/>
            <a:ext cx="785813" cy="257175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118" name="Text 117"/>
          <p:cNvSpPr txBox="1"/>
          <p:nvPr/>
        </p:nvSpPr>
        <p:spPr>
          <a:xfrm>
            <a:off x="2507456" y="4850606"/>
            <a:ext cx="771525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378ADD"/>
                </a:solidFill>
              </a:rPr>
              <a:t>Cloud Server</a:t>
            </a:r>
          </a:p>
        </p:txBody>
      </p:sp>
      <p:sp>
        <p:nvSpPr>
          <p:cNvPr id="119" name="Text 118"/>
          <p:cNvSpPr txBox="1"/>
          <p:nvPr/>
        </p:nvSpPr>
        <p:spPr>
          <a:xfrm>
            <a:off x="2507456" y="4943475"/>
            <a:ext cx="914400" cy="6858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800">
                <a:solidFill>
                  <a:srgbClr val="8FACC7"/>
                </a:solidFill>
              </a:rPr>
              <a:t>AWS / ThingSpeak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114550" y="5072063"/>
            <a:ext cx="785813" cy="214313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121" name="Text 120"/>
          <p:cNvSpPr txBox="1"/>
          <p:nvPr/>
        </p:nvSpPr>
        <p:spPr>
          <a:xfrm>
            <a:off x="2507456" y="5207794"/>
            <a:ext cx="642938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D0D8E4"/>
                </a:solidFill>
              </a:rPr>
              <a:t>Mobile App</a:t>
            </a:r>
          </a:p>
        </p:txBody>
      </p:sp>
      <p:sp>
        <p:nvSpPr>
          <p:cNvPr id="122" name="Text 121"/>
          <p:cNvSpPr txBox="1"/>
          <p:nvPr/>
        </p:nvSpPr>
        <p:spPr>
          <a:xfrm>
            <a:off x="2978944" y="5200650"/>
            <a:ext cx="128588" cy="15430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80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128963" y="4743450"/>
            <a:ext cx="785813" cy="257175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124" name="Text 123"/>
          <p:cNvSpPr txBox="1"/>
          <p:nvPr/>
        </p:nvSpPr>
        <p:spPr>
          <a:xfrm>
            <a:off x="3521869" y="4850606"/>
            <a:ext cx="578644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6FCF97"/>
                </a:solidFill>
              </a:rPr>
              <a:t>AI Engine</a:t>
            </a:r>
          </a:p>
        </p:txBody>
      </p:sp>
      <p:sp>
        <p:nvSpPr>
          <p:cNvPr id="125" name="Text 124"/>
          <p:cNvSpPr txBox="1"/>
          <p:nvPr/>
        </p:nvSpPr>
        <p:spPr>
          <a:xfrm>
            <a:off x="3521869" y="4943475"/>
            <a:ext cx="742950" cy="6858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800">
                <a:solidFill>
                  <a:srgbClr val="8FACC7"/>
                </a:solidFill>
              </a:rPr>
              <a:t>ML Prediction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128963" y="5072063"/>
            <a:ext cx="785813" cy="214313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127" name="Text 126"/>
          <p:cNvSpPr txBox="1"/>
          <p:nvPr/>
        </p:nvSpPr>
        <p:spPr>
          <a:xfrm>
            <a:off x="3521869" y="5207794"/>
            <a:ext cx="707231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D0D8E4"/>
                </a:solidFill>
              </a:rPr>
              <a:t>LoRa Module</a:t>
            </a:r>
          </a:p>
        </p:txBody>
      </p:sp>
      <p:sp>
        <p:nvSpPr>
          <p:cNvPr id="128" name="Text 127"/>
          <p:cNvSpPr txBox="1"/>
          <p:nvPr/>
        </p:nvSpPr>
        <p:spPr>
          <a:xfrm>
            <a:off x="3993356" y="5200650"/>
            <a:ext cx="128588" cy="15430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80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143375" y="4743450"/>
            <a:ext cx="785813" cy="257175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130" name="Text 129"/>
          <p:cNvSpPr txBox="1"/>
          <p:nvPr/>
        </p:nvSpPr>
        <p:spPr>
          <a:xfrm>
            <a:off x="4536281" y="4850606"/>
            <a:ext cx="707231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7F77DD"/>
                </a:solidFill>
              </a:rPr>
              <a:t>Solar Panel</a:t>
            </a:r>
          </a:p>
        </p:txBody>
      </p:sp>
      <p:sp>
        <p:nvSpPr>
          <p:cNvPr id="131" name="Text 130"/>
          <p:cNvSpPr txBox="1"/>
          <p:nvPr/>
        </p:nvSpPr>
        <p:spPr>
          <a:xfrm>
            <a:off x="4536281" y="4943475"/>
            <a:ext cx="685800" cy="6858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800">
                <a:solidFill>
                  <a:srgbClr val="8FACC7"/>
                </a:solidFill>
              </a:rPr>
              <a:t>10W + Li-ion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143375" y="5072063"/>
            <a:ext cx="785813" cy="214313"/>
          </a:xfrm>
          <a:prstGeom prst="rect">
            <a:avLst/>
          </a:prstGeom>
          <a:solidFill>
            <a:srgbClr val="1A3050"/>
          </a:solidFill>
        </p:spPr>
      </p:sp>
      <p:sp>
        <p:nvSpPr>
          <p:cNvPr id="133" name="Text 132"/>
          <p:cNvSpPr txBox="1"/>
          <p:nvPr/>
        </p:nvSpPr>
        <p:spPr>
          <a:xfrm>
            <a:off x="4536281" y="5207794"/>
            <a:ext cx="578644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D0D8E4"/>
                </a:solidFill>
              </a:rPr>
              <a:t>7 Sensors</a:t>
            </a:r>
          </a:p>
        </p:txBody>
      </p:sp>
      <p:sp>
        <p:nvSpPr>
          <p:cNvPr id="134" name="Text 133"/>
          <p:cNvSpPr txBox="1"/>
          <p:nvPr/>
        </p:nvSpPr>
        <p:spPr>
          <a:xfrm>
            <a:off x="5007769" y="5200650"/>
            <a:ext cx="128588" cy="15430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80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157788" y="4743450"/>
            <a:ext cx="4572000" cy="828675"/>
          </a:xfrm>
          <a:prstGeom prst="rect">
            <a:avLst/>
          </a:prstGeom>
          <a:solidFill>
            <a:srgbClr val="F4A261"/>
          </a:solidFill>
        </p:spPr>
      </p:sp>
      <p:sp>
        <p:nvSpPr>
          <p:cNvPr id="136" name="Text 135"/>
          <p:cNvSpPr txBox="1"/>
          <p:nvPr/>
        </p:nvSpPr>
        <p:spPr>
          <a:xfrm>
            <a:off x="7443788" y="4950619"/>
            <a:ext cx="2171700" cy="137160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600">
                <a:solidFill>
                  <a:srgbClr val="0D1B2A"/>
                </a:solidFill>
              </a:rPr>
              <a:t>Commercial Platform</a:t>
            </a:r>
          </a:p>
        </p:txBody>
      </p:sp>
      <p:sp>
        <p:nvSpPr>
          <p:cNvPr id="137" name="Text 136"/>
          <p:cNvSpPr txBox="1"/>
          <p:nvPr/>
        </p:nvSpPr>
        <p:spPr>
          <a:xfrm>
            <a:off x="7443788" y="5093494"/>
            <a:ext cx="5143500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0D1B2A"/>
                </a:solidFill>
              </a:rPr>
              <a:t>Coast Guard API  ·  Fleet Monitoring Dashboard  ·  Regulatory Compliance</a:t>
            </a:r>
          </a:p>
        </p:txBody>
      </p:sp>
      <p:sp>
        <p:nvSpPr>
          <p:cNvPr id="138" name="Text 137"/>
          <p:cNvSpPr txBox="1"/>
          <p:nvPr/>
        </p:nvSpPr>
        <p:spPr>
          <a:xfrm>
            <a:off x="7443788" y="5214938"/>
            <a:ext cx="5286375" cy="85725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1000">
                <a:solidFill>
                  <a:srgbClr val="0D1B2A"/>
                </a:solidFill>
              </a:rPr>
              <a:t>Automatic Incident Ticketing  ·  Full Sensor Redundancy  ·  Solar Off-grid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557838" y="5329238"/>
            <a:ext cx="1143000" cy="157163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40" name="Text 139"/>
          <p:cNvSpPr txBox="1"/>
          <p:nvPr/>
        </p:nvSpPr>
        <p:spPr>
          <a:xfrm>
            <a:off x="6129338" y="5436394"/>
            <a:ext cx="771525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F4A261"/>
                </a:solidFill>
              </a:rPr>
              <a:t>Target: 2027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986588" y="5329238"/>
            <a:ext cx="1571625" cy="157163"/>
          </a:xfrm>
          <a:prstGeom prst="rect">
            <a:avLst/>
          </a:prstGeom>
          <a:solidFill>
            <a:srgbClr val="0D1B2A"/>
          </a:solidFill>
        </p:spPr>
      </p:sp>
      <p:sp>
        <p:nvSpPr>
          <p:cNvPr id="142" name="Text 141"/>
          <p:cNvSpPr txBox="1"/>
          <p:nvPr/>
        </p:nvSpPr>
        <p:spPr>
          <a:xfrm>
            <a:off x="7772400" y="5436394"/>
            <a:ext cx="1928813" cy="77152"/>
          </a:xfrm>
          <a:prstGeom prst="rect">
            <a:avLst/>
          </a:prstGeom>
          <a:noFill/>
        </p:spPr>
        <p:txBody>
          <a:bodyPr wrap="none" rtlCol="0" anchor="t"/>
          <a:lstStyle/>
          <a:p>
            <a:r>
              <a:rPr lang="en-US" sz="900">
                <a:solidFill>
                  <a:srgbClr val="F4A261"/>
                </a:solidFill>
              </a:rPr>
              <a:t>Deployable on any small vessel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A7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